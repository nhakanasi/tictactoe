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5"/>
  </p:notesMasterIdLst>
  <p:handoutMasterIdLst>
    <p:handoutMasterId r:id="rId26"/>
  </p:handoutMasterIdLst>
  <p:sldIdLst>
    <p:sldId id="275" r:id="rId2"/>
    <p:sldId id="257" r:id="rId3"/>
    <p:sldId id="26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8" r:id="rId16"/>
    <p:sldId id="287" r:id="rId17"/>
    <p:sldId id="289" r:id="rId18"/>
    <p:sldId id="290" r:id="rId19"/>
    <p:sldId id="293" r:id="rId20"/>
    <p:sldId id="294" r:id="rId21"/>
    <p:sldId id="291" r:id="rId22"/>
    <p:sldId id="292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4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83" r:id="rId4"/>
    <p:sldLayoutId id="2147483679" r:id="rId5"/>
    <p:sldLayoutId id="2147483680" r:id="rId6"/>
    <p:sldLayoutId id="2147483681" r:id="rId7"/>
    <p:sldLayoutId id="2147483682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TicTacToe</a:t>
            </a:r>
            <a:r>
              <a:rPr lang="en-US" dirty="0"/>
              <a:t> solver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By Group 26</a:t>
            </a:r>
          </a:p>
          <a:p>
            <a:endParaRPr lang="en-US" sz="2400" b="0" dirty="0"/>
          </a:p>
          <a:p>
            <a:r>
              <a:rPr lang="en-US" sz="2000" b="0" dirty="0" err="1"/>
              <a:t>Tô</a:t>
            </a:r>
            <a:r>
              <a:rPr lang="en-US" sz="2000" b="0" dirty="0"/>
              <a:t> Duy An 202416653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/>
              <a:t>Chapter 1: Tic Tac Toe and </a:t>
            </a:r>
            <a:r>
              <a:rPr lang="en-US" sz="2400" dirty="0" err="1"/>
              <a:t>Gomoku</a:t>
            </a:r>
            <a:endParaRPr lang="en-US" sz="2400" dirty="0"/>
          </a:p>
          <a:p>
            <a:pPr lvl="1"/>
            <a:r>
              <a:rPr lang="en-US" sz="2000" dirty="0"/>
              <a:t>Introduction</a:t>
            </a:r>
          </a:p>
          <a:p>
            <a:pPr lvl="1"/>
            <a:r>
              <a:rPr lang="en-US" sz="2000" dirty="0"/>
              <a:t>Encoding</a:t>
            </a:r>
          </a:p>
          <a:p>
            <a:r>
              <a:rPr lang="en-US" sz="2400" dirty="0"/>
              <a:t>Chapter 2: Standard solver</a:t>
            </a:r>
          </a:p>
          <a:p>
            <a:pPr lvl="1"/>
            <a:r>
              <a:rPr lang="en-US" sz="2000" dirty="0" err="1"/>
              <a:t>MiniMax</a:t>
            </a:r>
            <a:endParaRPr lang="en-US" sz="2000" dirty="0"/>
          </a:p>
          <a:p>
            <a:pPr lvl="1"/>
            <a:r>
              <a:rPr lang="en-US" sz="2000" dirty="0"/>
              <a:t>AlphaBeta Pruning</a:t>
            </a:r>
          </a:p>
          <a:p>
            <a:pPr lvl="1"/>
            <a:r>
              <a:rPr lang="en-US" sz="2000" dirty="0"/>
              <a:t>MCTS</a:t>
            </a:r>
          </a:p>
          <a:p>
            <a:r>
              <a:rPr lang="en-US" sz="2400" dirty="0"/>
              <a:t>Chapter 3: Extra Solver</a:t>
            </a:r>
          </a:p>
          <a:p>
            <a:pPr lvl="1"/>
            <a:r>
              <a:rPr lang="en-US" sz="2000" dirty="0"/>
              <a:t>Trained MCTS Tree </a:t>
            </a:r>
          </a:p>
          <a:p>
            <a:pPr lvl="1"/>
            <a:r>
              <a:rPr lang="en-US" sz="2000" dirty="0"/>
              <a:t>Q table</a:t>
            </a:r>
          </a:p>
          <a:p>
            <a:pPr lvl="1"/>
            <a:r>
              <a:rPr lang="en-US" sz="2000" dirty="0"/>
              <a:t>Alpha Beta + Heuristic</a:t>
            </a:r>
          </a:p>
          <a:p>
            <a:pPr lvl="1"/>
            <a:r>
              <a:rPr lang="en-US" sz="2000" dirty="0"/>
              <a:t>Temporal-Difference Learning value function</a:t>
            </a:r>
          </a:p>
          <a:p>
            <a:pPr lvl="1"/>
            <a:r>
              <a:rPr lang="en-US" sz="2000" dirty="0"/>
              <a:t>Alpha Zero model</a:t>
            </a:r>
          </a:p>
          <a:p>
            <a:r>
              <a:rPr lang="en-US" sz="2400" dirty="0"/>
              <a:t>Chapter 4: Conclusion Table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F859-67E6-60B0-64CB-D0313536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9DF23-ABC9-02EF-93E9-A551BD1D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A3309E-79A8-7745-5817-DCBB0E14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Tic Tac Toe and </a:t>
            </a:r>
            <a:r>
              <a:rPr lang="en-US" dirty="0" err="1"/>
              <a:t>Gomoku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8CCD9-A803-5E50-37A7-4A9763EFDA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Tic Tac Toe and </a:t>
            </a:r>
            <a:r>
              <a:rPr lang="en-US" dirty="0" err="1"/>
              <a:t>Gomoku</a:t>
            </a:r>
            <a:r>
              <a:rPr lang="en-US" dirty="0"/>
              <a:t> are similar game</a:t>
            </a:r>
          </a:p>
          <a:p>
            <a:r>
              <a:rPr lang="en-US" dirty="0"/>
              <a:t>We only consider Square board (N*N) for simplicity (As </a:t>
            </a:r>
            <a:r>
              <a:rPr lang="en-US" dirty="0" err="1"/>
              <a:t>Tictactoe</a:t>
            </a:r>
            <a:r>
              <a:rPr lang="en-US" dirty="0"/>
              <a:t> require it, and </a:t>
            </a:r>
            <a:r>
              <a:rPr lang="en-US" dirty="0" err="1"/>
              <a:t>Gomoku</a:t>
            </a:r>
            <a:r>
              <a:rPr lang="en-US" dirty="0"/>
              <a:t> a 10x10 could cover every almost any game)</a:t>
            </a:r>
          </a:p>
          <a:p>
            <a:r>
              <a:rPr lang="en-US" dirty="0"/>
              <a:t>Solution for </a:t>
            </a:r>
            <a:r>
              <a:rPr lang="en-US" dirty="0" err="1"/>
              <a:t>Gomoku</a:t>
            </a:r>
            <a:r>
              <a:rPr lang="en-US" dirty="0"/>
              <a:t> can certainly solve </a:t>
            </a:r>
            <a:r>
              <a:rPr lang="en-US" dirty="0" err="1"/>
              <a:t>TicTacToe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gomoku book... - ZBrushCentral">
            <a:extLst>
              <a:ext uri="{FF2B5EF4-FFF2-40B4-BE49-F238E27FC236}">
                <a16:creationId xmlns:a16="http://schemas.microsoft.com/office/drawing/2014/main" id="{1CE89C54-A31A-9925-8F1A-98616EF5F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21" y="3266740"/>
            <a:ext cx="2558824" cy="255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amesCrafters :: Games">
            <a:extLst>
              <a:ext uri="{FF2B5EF4-FFF2-40B4-BE49-F238E27FC236}">
                <a16:creationId xmlns:a16="http://schemas.microsoft.com/office/drawing/2014/main" id="{3D25AF2E-0CE3-D500-9AA7-F9206C68A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606" y="3266740"/>
            <a:ext cx="2558824" cy="255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64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A40EA-4C3E-B599-3E0E-FDC3A3A65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9114BC-7103-4F76-EE9C-B9F28A5DF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74EED-928F-0A3E-BAEB-871E8279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Tic Tac Toe and </a:t>
            </a:r>
            <a:r>
              <a:rPr lang="en-US" dirty="0" err="1"/>
              <a:t>Gomoku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69311-AEB2-0731-2ECC-47B6AB78EE2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Some consistence agent to play Tic Tac Toe such as Minimax, Alpha beta pruning or MCTS can work well on small board</a:t>
            </a:r>
          </a:p>
          <a:p>
            <a:r>
              <a:rPr lang="en-US" dirty="0"/>
              <a:t>Bigger board (5x5, 10x10) is too large to compute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New solution is needed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84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48F5-98EC-3F2F-869F-D26405D3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3AC1E-DBAC-EB74-60B0-40DC52E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8D7073-E793-E7CE-8006-824F8AD9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Tic Tac Toe and </a:t>
            </a:r>
            <a:r>
              <a:rPr lang="en-US" dirty="0" err="1"/>
              <a:t>Gomoku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7EBF0-2A03-8959-913D-280E8E9985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Some consistence agent to play Tic Tac Toe such as Minimax, Alpha beta pruning or MCTS can work well on small board</a:t>
            </a:r>
          </a:p>
          <a:p>
            <a:r>
              <a:rPr lang="en-US" dirty="0"/>
              <a:t>Bigger board (5x5, 10x10) is too large to compute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New solution is needed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44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0E9A-527E-70D4-9997-9101854B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17AF03-4910-8F2C-4283-4BCA7670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E5F27A-DE2F-3944-CD60-09C6C5E07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Tic Tac Toe and </a:t>
            </a:r>
            <a:r>
              <a:rPr lang="en-US" dirty="0" err="1"/>
              <a:t>Gomoku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ACDA3-E41D-2D31-763C-23872D45815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For square board, a new encoding way need to be considered: </a:t>
            </a:r>
          </a:p>
          <a:p>
            <a:pPr lvl="1"/>
            <a:r>
              <a:rPr lang="en-US" dirty="0"/>
              <a:t>For a symmetric square board, there can be 8 game states derive from one</a:t>
            </a:r>
          </a:p>
          <a:p>
            <a:pPr lvl="1"/>
            <a:r>
              <a:rPr lang="en-US" dirty="0"/>
              <a:t>To increase learning capability, we reduce 8 rotation to 1 orthogonal rotation using rotate and hashing</a:t>
            </a:r>
          </a:p>
          <a:p>
            <a:pPr marL="0" indent="0">
              <a:buNone/>
            </a:pPr>
            <a:r>
              <a:rPr lang="en-US" dirty="0"/>
              <a:t>Ex: a, c, g, </a:t>
            </a:r>
            <a:r>
              <a:rPr lang="en-US" dirty="0" err="1"/>
              <a:t>i</a:t>
            </a:r>
            <a:r>
              <a:rPr lang="en-US" dirty="0"/>
              <a:t> is of the same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9F108-D91F-A31E-81F3-CD9A33886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3579358"/>
            <a:ext cx="78295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81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9290B-728A-E1C6-4ACD-2D565C1C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532CD-2EC9-E1D0-9AC9-EA693C4B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58B33C-1500-0F1C-33DA-CCEAEC673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Tic Tac Toe and </a:t>
            </a:r>
            <a:r>
              <a:rPr lang="en-US" dirty="0" err="1"/>
              <a:t>Gomoku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81B61-FEEE-5155-B58A-15871C2AE7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By de-duplicate states, we can more effectively search for solution or evaluate states</a:t>
            </a:r>
          </a:p>
          <a:p>
            <a:r>
              <a:rPr lang="en-US" dirty="0"/>
              <a:t>Some doesn’t benefit from this (CNN model isn’t symmetric weighted, optimized solver)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6" name="Picture 4" descr="Fig 4.1 First three levels of the tic-tac-toe state space reduced by  symmetry">
            <a:extLst>
              <a:ext uri="{FF2B5EF4-FFF2-40B4-BE49-F238E27FC236}">
                <a16:creationId xmlns:a16="http://schemas.microsoft.com/office/drawing/2014/main" id="{37880799-7B5A-A8FC-3882-12F341079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395" y="2510762"/>
            <a:ext cx="5336041" cy="350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63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B0E1-8C54-CFA9-406A-F27BAAFF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B66AB-BD5A-5965-4277-B5FBF624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7985B2-BED9-060E-9EBB-C8D8D0EC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2: Standard Solver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8CF2E-3B19-C3AD-3A48-699620F88B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4500209" cy="5303393"/>
          </a:xfrm>
        </p:spPr>
        <p:txBody>
          <a:bodyPr/>
          <a:lstStyle/>
          <a:p>
            <a:r>
              <a:rPr lang="en-US" sz="2400" dirty="0"/>
              <a:t>Minimax and Alpha Beta pruning is closely related.</a:t>
            </a:r>
          </a:p>
          <a:p>
            <a:r>
              <a:rPr lang="en-US" sz="2400" dirty="0"/>
              <a:t>Both perform well on small board (search space is small)</a:t>
            </a:r>
          </a:p>
          <a:p>
            <a:r>
              <a:rPr lang="en-US" sz="2400" dirty="0"/>
              <a:t>Struggle against large board (4x4 already taken minutes before can move once)</a:t>
            </a:r>
          </a:p>
          <a:p>
            <a:r>
              <a:rPr lang="en-US" sz="2400" dirty="0"/>
              <a:t>Reward function: +1 for win, -1 for lose, 0 for draw.</a:t>
            </a:r>
          </a:p>
          <a:p>
            <a:r>
              <a:rPr lang="en-US" sz="2400" dirty="0"/>
              <a:t>Conclusion:</a:t>
            </a:r>
          </a:p>
          <a:p>
            <a:pPr lvl="1"/>
            <a:r>
              <a:rPr lang="en-US" sz="2000" dirty="0"/>
              <a:t>Perfect player (small)</a:t>
            </a:r>
          </a:p>
          <a:p>
            <a:pPr lvl="1"/>
            <a:r>
              <a:rPr lang="en-US" sz="2000" dirty="0"/>
              <a:t>Low responsive (slow)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3813B6-803C-BD44-E0C7-77669E632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065" y="1717430"/>
            <a:ext cx="3916636" cy="342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79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3D17-AE01-11C3-2CA6-AC372B45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A5916-409A-72F1-2F91-6411E64F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6CFB14-66F3-AC9C-A6D5-6550A501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2: Standard Solver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F3C5F-BFD0-3C9C-2C87-53311D7950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89706" cy="5303393"/>
          </a:xfrm>
        </p:spPr>
        <p:txBody>
          <a:bodyPr/>
          <a:lstStyle/>
          <a:p>
            <a:r>
              <a:rPr lang="en-US" sz="2400" dirty="0"/>
              <a:t>MCTS is classic agent</a:t>
            </a:r>
          </a:p>
          <a:p>
            <a:r>
              <a:rPr lang="en-US" sz="2400" dirty="0"/>
              <a:t>Using </a:t>
            </a:r>
            <a:r>
              <a:rPr lang="en-US" sz="2400" dirty="0" err="1"/>
              <a:t>upperbound</a:t>
            </a:r>
            <a:r>
              <a:rPr lang="en-US" sz="2400" dirty="0"/>
              <a:t>, exploration vs exploitation</a:t>
            </a:r>
          </a:p>
          <a:p>
            <a:r>
              <a:rPr lang="en-US" sz="2400" dirty="0"/>
              <a:t>At each board state, create a new MCTS tree to evaluate next step</a:t>
            </a:r>
          </a:p>
          <a:p>
            <a:r>
              <a:rPr lang="en-US" sz="2400" dirty="0"/>
              <a:t>Structure: Select, expand, simulate, backpropagate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3A2129-1E39-2F27-81B5-30D60BE14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48" y="3317421"/>
            <a:ext cx="661035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74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14D1-3111-E850-58BD-EB8AC0B2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C00C72-ED3D-E793-126C-88245839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3BC222-B48C-31CB-16AF-CEE148C9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2: Standard Solver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177EB-BC5C-5C41-20E1-BA1774FABB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5439102" cy="5303393"/>
          </a:xfrm>
        </p:spPr>
        <p:txBody>
          <a:bodyPr/>
          <a:lstStyle/>
          <a:p>
            <a:r>
              <a:rPr lang="en-US" sz="2000" dirty="0"/>
              <a:t>At each game state, search for move that fit the criteria</a:t>
            </a:r>
          </a:p>
          <a:p>
            <a:pPr lvl="1"/>
            <a:r>
              <a:rPr lang="en-US" sz="1800" dirty="0"/>
              <a:t>This is determined by C(constant)*exploration (explore new move) + exploitation (use old move that works)</a:t>
            </a:r>
          </a:p>
          <a:p>
            <a:r>
              <a:rPr lang="en-US" sz="2000" dirty="0"/>
              <a:t>At terminal leaf (no more node after), expand to get the next move</a:t>
            </a:r>
          </a:p>
          <a:p>
            <a:r>
              <a:rPr lang="en-US" sz="2000" dirty="0"/>
              <a:t>After expanding, do a roll out to evaluate the state</a:t>
            </a:r>
          </a:p>
          <a:p>
            <a:r>
              <a:rPr lang="en-US" sz="2000" dirty="0" err="1"/>
              <a:t>BackPropagate</a:t>
            </a:r>
            <a:r>
              <a:rPr lang="en-US" sz="2000" dirty="0"/>
              <a:t> to update the value of node</a:t>
            </a:r>
          </a:p>
          <a:p>
            <a:r>
              <a:rPr lang="en-US" sz="2000" dirty="0"/>
              <a:t>Repeat for n iteration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000" dirty="0"/>
              <a:t>Select move by most visit (must be the most successful after many simulation)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146" name="Picture 2" descr="3: 5 iterations of MCTS to the Tic-Tac-Toe game (from [21]) | Download  Scientific Diagram">
            <a:extLst>
              <a:ext uri="{FF2B5EF4-FFF2-40B4-BE49-F238E27FC236}">
                <a16:creationId xmlns:a16="http://schemas.microsoft.com/office/drawing/2014/main" id="{2878BBEE-3C0D-3064-4344-13197606D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834" y="1315983"/>
            <a:ext cx="2449667" cy="4226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859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435A-B256-401F-A63F-E827108D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46A7B-0200-EC83-72F0-61F14E50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AF90A4-816C-C3C8-C63A-802F7712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2: Standard Solver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50293-9A3F-4675-E947-0D1AB4A805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673845" cy="5303393"/>
          </a:xfrm>
        </p:spPr>
        <p:txBody>
          <a:bodyPr/>
          <a:lstStyle/>
          <a:p>
            <a:r>
              <a:rPr lang="en-US" dirty="0"/>
              <a:t>Conclusion:</a:t>
            </a:r>
          </a:p>
          <a:p>
            <a:pPr lvl="1"/>
            <a:r>
              <a:rPr lang="en-US" dirty="0"/>
              <a:t>Good player (could be perfect if large enough iteration)</a:t>
            </a:r>
          </a:p>
          <a:p>
            <a:pPr lvl="2"/>
            <a:r>
              <a:rPr lang="en-US" dirty="0"/>
              <a:t>Depends much on roll out strategy</a:t>
            </a:r>
          </a:p>
          <a:p>
            <a:pPr lvl="2"/>
            <a:r>
              <a:rPr lang="en-US" dirty="0"/>
              <a:t>Need to balance exploit and explore for effective game</a:t>
            </a:r>
          </a:p>
          <a:p>
            <a:pPr lvl="1"/>
            <a:r>
              <a:rPr lang="en-US" dirty="0"/>
              <a:t>Low response (exponential on large board, need to cap on max depth)</a:t>
            </a:r>
          </a:p>
          <a:p>
            <a:pPr lvl="1"/>
            <a:r>
              <a:rPr lang="en-US" dirty="0"/>
              <a:t>Doesn’t perform well on </a:t>
            </a:r>
            <a:r>
              <a:rPr lang="en-US" dirty="0" err="1"/>
              <a:t>Gomoku</a:t>
            </a:r>
            <a:endParaRPr lang="en-US" dirty="0"/>
          </a:p>
          <a:p>
            <a:pPr lvl="2"/>
            <a:r>
              <a:rPr lang="en-US" dirty="0"/>
              <a:t>Complex tree</a:t>
            </a:r>
          </a:p>
          <a:p>
            <a:pPr lvl="2"/>
            <a:r>
              <a:rPr lang="en-US" dirty="0"/>
              <a:t>Take too long to roll out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761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2939-4D95-0969-7398-17902EA7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F83A52-7934-054A-5273-3966EC29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AC421-A43B-67DF-C3E3-2185DBEB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81D50-FBB3-C73B-96CB-FA7DC9203A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4704317" cy="5303393"/>
          </a:xfrm>
        </p:spPr>
        <p:txBody>
          <a:bodyPr/>
          <a:lstStyle/>
          <a:p>
            <a:r>
              <a:rPr lang="en-US" sz="2400" dirty="0"/>
              <a:t>Q learning: Look up table strategy</a:t>
            </a:r>
          </a:p>
          <a:p>
            <a:pPr lvl="1"/>
            <a:r>
              <a:rPr lang="en-US" sz="2000" dirty="0"/>
              <a:t>Load all states and evaluate all the move and choose the best move</a:t>
            </a:r>
          </a:p>
          <a:p>
            <a:pPr lvl="1"/>
            <a:r>
              <a:rPr lang="en-US" sz="2000" dirty="0"/>
              <a:t>To train, do the same as MCTS: explore and exploit</a:t>
            </a:r>
          </a:p>
          <a:p>
            <a:pPr lvl="1"/>
            <a:r>
              <a:rPr lang="en-US" sz="2000" dirty="0"/>
              <a:t>After finishing a game, backpropagate all the value according to Temporal-Difference learning</a:t>
            </a:r>
          </a:p>
          <a:p>
            <a:pPr lvl="1"/>
            <a:r>
              <a:rPr lang="en-US" sz="2000" dirty="0"/>
              <a:t>At playing, just look up a table of that state when choosing next move</a:t>
            </a:r>
          </a:p>
          <a:p>
            <a:pPr lvl="1"/>
            <a:r>
              <a:rPr lang="en-US" sz="2000" dirty="0"/>
              <a:t>Conclusion:</a:t>
            </a:r>
          </a:p>
          <a:p>
            <a:pPr lvl="2"/>
            <a:r>
              <a:rPr lang="en-US" sz="1600" dirty="0"/>
              <a:t>Perfect player </a:t>
            </a:r>
          </a:p>
          <a:p>
            <a:pPr lvl="2"/>
            <a:r>
              <a:rPr lang="en-US" sz="1600" dirty="0"/>
              <a:t>Fast </a:t>
            </a:r>
            <a:r>
              <a:rPr lang="en-US" sz="1600" dirty="0" err="1"/>
              <a:t>respone</a:t>
            </a:r>
            <a:endParaRPr lang="en-US" sz="1600" dirty="0"/>
          </a:p>
          <a:p>
            <a:pPr lvl="2"/>
            <a:r>
              <a:rPr lang="en-US" sz="1600" dirty="0"/>
              <a:t>Only for small board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4CF6C6-411D-0A16-49E5-75BD984E4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45" y="1910161"/>
            <a:ext cx="4050236" cy="303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2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A1279-8154-21D9-58D7-3CB55FA5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7970BA-FD18-FC46-E892-0D45B409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C6BA03-CA52-E77D-007D-D87EABDC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2D819-46A6-F5DB-C64D-211308D170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557860" cy="5303393"/>
          </a:xfrm>
        </p:spPr>
        <p:txBody>
          <a:bodyPr/>
          <a:lstStyle/>
          <a:p>
            <a:r>
              <a:rPr lang="en-US" sz="2000" dirty="0"/>
              <a:t>Shared MCTS tree: Save MCTS result</a:t>
            </a:r>
          </a:p>
          <a:p>
            <a:pPr lvl="1"/>
            <a:r>
              <a:rPr lang="en-US" sz="1800" dirty="0"/>
              <a:t>MCTS explore create a tree structure -&gt; save that structure and query the best route</a:t>
            </a:r>
          </a:p>
          <a:p>
            <a:pPr lvl="1"/>
            <a:r>
              <a:rPr lang="en-US" sz="1800" dirty="0"/>
              <a:t>We train MCTS against Perfect agent to get the best result</a:t>
            </a:r>
          </a:p>
          <a:p>
            <a:pPr lvl="1"/>
            <a:r>
              <a:rPr lang="en-US" sz="1800" dirty="0"/>
              <a:t>At inference, we can work on what were played and improve or choose that move right away</a:t>
            </a:r>
            <a:endParaRPr lang="en-US" sz="1400" dirty="0"/>
          </a:p>
          <a:p>
            <a:pPr lvl="1"/>
            <a:r>
              <a:rPr lang="en-US" sz="1800" dirty="0"/>
              <a:t>Conclusion:</a:t>
            </a:r>
          </a:p>
          <a:p>
            <a:pPr lvl="2"/>
            <a:r>
              <a:rPr lang="en-US" sz="1600" dirty="0"/>
              <a:t>Good player (depend on teacher)</a:t>
            </a:r>
          </a:p>
          <a:p>
            <a:pPr lvl="2"/>
            <a:r>
              <a:rPr lang="en-US" sz="1600" dirty="0"/>
              <a:t>Slow response (Same case as MCTS)</a:t>
            </a:r>
            <a:endParaRPr lang="en-US" sz="14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8AF04BE9-FD84-CBC1-657C-6710EB752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206" y="3580913"/>
            <a:ext cx="5639587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66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02A82-2D66-B4F9-98BD-AE300035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162B7E-1039-1672-8D73-7B3273A8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5DBDB5-E887-358C-1F4E-031C1E8D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6CCAC-A464-9F80-7FCF-71BA3B7454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557860" cy="5303393"/>
          </a:xfrm>
        </p:spPr>
        <p:txBody>
          <a:bodyPr/>
          <a:lstStyle/>
          <a:p>
            <a:r>
              <a:rPr lang="en-US" sz="2000" dirty="0"/>
              <a:t>Heuristic function</a:t>
            </a:r>
          </a:p>
          <a:p>
            <a:pPr lvl="1"/>
            <a:r>
              <a:rPr lang="en-US" sz="1800" dirty="0"/>
              <a:t>An alpha beta pruning combine with heuristic function</a:t>
            </a:r>
          </a:p>
          <a:p>
            <a:pPr lvl="1"/>
            <a:r>
              <a:rPr lang="en-US" sz="1800" dirty="0"/>
              <a:t>At N depth, eval the board and return the value</a:t>
            </a:r>
          </a:p>
          <a:p>
            <a:pPr lvl="2"/>
            <a:r>
              <a:rPr lang="en-US" sz="1600" dirty="0"/>
              <a:t>Choose best move accordingly</a:t>
            </a:r>
          </a:p>
          <a:p>
            <a:pPr lvl="1"/>
            <a:r>
              <a:rPr lang="en-US" sz="2000" dirty="0"/>
              <a:t>Conclusion:</a:t>
            </a:r>
          </a:p>
          <a:p>
            <a:pPr lvl="2"/>
            <a:r>
              <a:rPr lang="en-US" sz="1600" dirty="0"/>
              <a:t>Good player (based on heuristic function)</a:t>
            </a:r>
          </a:p>
          <a:p>
            <a:pPr lvl="2"/>
            <a:r>
              <a:rPr lang="en-US" sz="1600" dirty="0"/>
              <a:t>Fast</a:t>
            </a:r>
          </a:p>
          <a:p>
            <a:pPr lvl="2"/>
            <a:r>
              <a:rPr lang="en-US" sz="1600" dirty="0"/>
              <a:t>Can be expand on large board (</a:t>
            </a:r>
            <a:r>
              <a:rPr lang="en-US" sz="1600" dirty="0" err="1"/>
              <a:t>Gomoku</a:t>
            </a:r>
            <a:r>
              <a:rPr lang="en-US" sz="1600" dirty="0"/>
              <a:t>)</a:t>
            </a:r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marL="914400" lvl="2" indent="0">
              <a:buNone/>
            </a:pPr>
            <a:endParaRPr lang="en-US" sz="1600" dirty="0"/>
          </a:p>
        </p:txBody>
      </p:sp>
      <p:pic>
        <p:nvPicPr>
          <p:cNvPr id="8194" name="Picture 2" descr="Project: AI algorithm using Alpha-Beta Pruning playing Tic-Tac-Toe –  Stephen Gass">
            <a:extLst>
              <a:ext uri="{FF2B5EF4-FFF2-40B4-BE49-F238E27FC236}">
                <a16:creationId xmlns:a16="http://schemas.microsoft.com/office/drawing/2014/main" id="{958F4C47-F71E-2E7E-4F14-FFBE8B772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45" y="3429000"/>
            <a:ext cx="4038038" cy="267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80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E886C-9DC9-BCD8-051B-143E8B9C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6C468-A0D6-E3DB-6BC5-3D21FA23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13FCD-AF23-B9F0-A332-4DCE50492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A9F86E-97B1-E120-C32D-A0B6008E65D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5076" y="841247"/>
                <a:ext cx="8557860" cy="5303393"/>
              </a:xfrm>
            </p:spPr>
            <p:txBody>
              <a:bodyPr/>
              <a:lstStyle/>
              <a:p>
                <a:r>
                  <a:rPr lang="en-US" sz="2000" dirty="0"/>
                  <a:t>Trained heuristic function</a:t>
                </a:r>
              </a:p>
              <a:p>
                <a:pPr lvl="1"/>
                <a:r>
                  <a:rPr lang="en-US" sz="1800" dirty="0"/>
                  <a:t>A linear Heuristic function that can be train to get good weight</a:t>
                </a:r>
              </a:p>
              <a:p>
                <a:pPr lvl="1"/>
                <a:r>
                  <a:rPr lang="en-US" sz="1800" dirty="0"/>
                  <a:t>Params are: Open row, 2 in a row, 3 in a row … according to board size</a:t>
                </a:r>
              </a:p>
              <a:p>
                <a:pPr lvl="1"/>
                <a:r>
                  <a:rPr lang="en-US" sz="1800" dirty="0"/>
                  <a:t>Initialize random weight, play until the end by our value function and train stochasticity using the Temporal-Difference Learning: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sz="1400" i="1" dirty="0" err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𝑒𝑠𝑡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lvl="1"/>
                <a:r>
                  <a:rPr lang="en-US" sz="1800" dirty="0"/>
                  <a:t>V train is our old guess, based on next state value</a:t>
                </a:r>
              </a:p>
              <a:p>
                <a:pPr lvl="2"/>
                <a:r>
                  <a:rPr lang="en-US" sz="1400" dirty="0"/>
                  <a:t>We are updating our guess to be more correct</a:t>
                </a:r>
              </a:p>
              <a:p>
                <a:pPr lvl="1"/>
                <a:r>
                  <a:rPr lang="en-US" sz="1800" dirty="0"/>
                  <a:t>Using LMS to update weights (</a:t>
                </a:r>
                <a:r>
                  <a:rPr lang="en-US" sz="1800" dirty="0" err="1"/>
                  <a:t>V_train</a:t>
                </a:r>
                <a:r>
                  <a:rPr lang="en-US" sz="1800" dirty="0"/>
                  <a:t> – </a:t>
                </a:r>
                <a:r>
                  <a:rPr lang="en-US" sz="1800" dirty="0" err="1"/>
                  <a:t>V_est</a:t>
                </a:r>
                <a:r>
                  <a:rPr lang="en-US" sz="1800" dirty="0"/>
                  <a:t>), from board 0 to end</a:t>
                </a:r>
              </a:p>
              <a:p>
                <a:pPr lvl="2"/>
                <a:r>
                  <a:rPr lang="en-US" sz="1600" dirty="0"/>
                  <a:t>At the end, W get update to be more correct -&gt; start a wave of change next iter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A9F86E-97B1-E120-C32D-A0B6008E6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6" y="841247"/>
                <a:ext cx="8557860" cy="5303393"/>
              </a:xfrm>
              <a:blipFill>
                <a:blip r:embed="rId2"/>
                <a:stretch>
                  <a:fillRect l="-641" t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game&#10;&#10;AI-generated content may be incorrect.">
            <a:extLst>
              <a:ext uri="{FF2B5EF4-FFF2-40B4-BE49-F238E27FC236}">
                <a16:creationId xmlns:a16="http://schemas.microsoft.com/office/drawing/2014/main" id="{1A77948E-7406-0B39-EE37-63B1D4B5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977" y="4031375"/>
            <a:ext cx="3396057" cy="266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66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3962-32D1-AD76-7CDD-DA8CEDCF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28B4D-9FAA-8ACA-0C4C-EF0BFA382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D12D5A-EF78-84D4-CD66-22AAA44E9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C6616-B180-7033-D5A6-3B2D31F746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557860" cy="5303393"/>
          </a:xfrm>
        </p:spPr>
        <p:txBody>
          <a:bodyPr/>
          <a:lstStyle/>
          <a:p>
            <a:r>
              <a:rPr lang="en-US" sz="2000" dirty="0"/>
              <a:t>Trained heuristic function</a:t>
            </a:r>
          </a:p>
          <a:p>
            <a:pPr lvl="1"/>
            <a:r>
              <a:rPr lang="en-US" sz="1600" dirty="0"/>
              <a:t>Can be expand by having MCTS or AlphaBeta </a:t>
            </a:r>
            <a:r>
              <a:rPr lang="en-US" sz="1600" dirty="0" err="1"/>
              <a:t>Prunning</a:t>
            </a:r>
            <a:r>
              <a:rPr lang="en-US" sz="1600" dirty="0"/>
              <a:t> to search further, making smarter move</a:t>
            </a:r>
          </a:p>
          <a:p>
            <a:pPr lvl="1"/>
            <a:r>
              <a:rPr lang="en-US" sz="1800" dirty="0"/>
              <a:t>Conclusion:</a:t>
            </a:r>
          </a:p>
          <a:p>
            <a:pPr lvl="1"/>
            <a:r>
              <a:rPr lang="en-US" sz="1600" dirty="0"/>
              <a:t>Great player (Still good at big board for training weight)</a:t>
            </a:r>
          </a:p>
          <a:p>
            <a:pPr lvl="1"/>
            <a:r>
              <a:rPr lang="en-US" sz="1600" dirty="0"/>
              <a:t>Instant, at inference choose max value</a:t>
            </a:r>
          </a:p>
        </p:txBody>
      </p:sp>
      <p:pic>
        <p:nvPicPr>
          <p:cNvPr id="6" name="Picture 5" descr="A diagram of a game&#10;&#10;AI-generated content may be incorrect.">
            <a:extLst>
              <a:ext uri="{FF2B5EF4-FFF2-40B4-BE49-F238E27FC236}">
                <a16:creationId xmlns:a16="http://schemas.microsoft.com/office/drawing/2014/main" id="{8832215B-3616-6707-A9B4-17C7F034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977" y="4031375"/>
            <a:ext cx="3396057" cy="266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12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47F7-FBCF-286E-C217-0A5536E2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60E9BB-260E-A65B-07AB-CE428DA7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103F08-E2CA-3640-0C98-7EEC8FF1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AD677-F40D-2315-1E1F-A6DA7CD782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557860" cy="5303393"/>
          </a:xfrm>
        </p:spPr>
        <p:txBody>
          <a:bodyPr/>
          <a:lstStyle/>
          <a:p>
            <a:r>
              <a:rPr lang="en-US" sz="2000" dirty="0"/>
              <a:t>CNN + MCTS:</a:t>
            </a:r>
          </a:p>
          <a:p>
            <a:pPr lvl="1"/>
            <a:r>
              <a:rPr lang="en-US" sz="1800" dirty="0"/>
              <a:t>We train a neural network to estimate a board value</a:t>
            </a:r>
          </a:p>
          <a:p>
            <a:pPr lvl="1"/>
            <a:r>
              <a:rPr lang="en-US" sz="1800" dirty="0"/>
              <a:t>Use MCTS to choice best move</a:t>
            </a:r>
          </a:p>
          <a:p>
            <a:pPr lvl="1"/>
            <a:r>
              <a:rPr lang="en-US" sz="1800" dirty="0"/>
              <a:t>When hitting a leaf, we call model to evaluate the board, and weight next possible move</a:t>
            </a:r>
          </a:p>
          <a:p>
            <a:pPr lvl="1"/>
            <a:r>
              <a:rPr lang="en-US" sz="1800" dirty="0"/>
              <a:t>To encode:</a:t>
            </a:r>
          </a:p>
          <a:p>
            <a:pPr lvl="2"/>
            <a:r>
              <a:rPr lang="en-US" sz="1400" dirty="0"/>
              <a:t>The board state will have 3 layers</a:t>
            </a:r>
          </a:p>
          <a:p>
            <a:pPr lvl="3"/>
            <a:r>
              <a:rPr lang="en-US" sz="1200" dirty="0"/>
              <a:t>Player</a:t>
            </a:r>
          </a:p>
          <a:p>
            <a:pPr lvl="3"/>
            <a:r>
              <a:rPr lang="en-US" sz="1200" dirty="0"/>
              <a:t>Opponent</a:t>
            </a:r>
          </a:p>
          <a:p>
            <a:pPr lvl="3"/>
            <a:r>
              <a:rPr lang="en-US" sz="1200" dirty="0"/>
              <a:t>Empty</a:t>
            </a:r>
            <a:endParaRPr lang="en-US" sz="1800" dirty="0"/>
          </a:p>
          <a:p>
            <a:pPr lvl="1"/>
            <a:r>
              <a:rPr lang="en-US" sz="1800" dirty="0"/>
              <a:t>When MCTS expand again, the function get influence by Model, create a priority for move that have high weight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dirty="0"/>
              <a:t>To train, self play for many games, or play with good teacher (Alpha Beta heuristic)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59F26-A08D-4531-9C59-F20E31F07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75" y="4223353"/>
            <a:ext cx="5191850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9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BE38B-8A7D-4069-5EE0-0B242F77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D219F-E005-96AB-AF7E-D2873A57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14FD4-8AD9-7B39-357C-EC0460ED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14060-FF92-CB70-D53E-9414CF2B89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557860" cy="5303393"/>
          </a:xfrm>
        </p:spPr>
        <p:txBody>
          <a:bodyPr/>
          <a:lstStyle/>
          <a:p>
            <a:r>
              <a:rPr lang="en-US" sz="2000" dirty="0"/>
              <a:t>CNN + MCTS: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635504-CDD5-1210-6F5B-F4EB58279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24" y="1118507"/>
            <a:ext cx="3624963" cy="52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4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8C69-128B-A3EF-39D2-F230922F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62DAC-59D7-2374-98A4-EF96B0BF8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351F9D-0237-A2C9-FD22-E485B732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3: Extra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CDE47-8DED-4D5F-2157-F244F9BB6A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557860" cy="5303393"/>
          </a:xfrm>
        </p:spPr>
        <p:txBody>
          <a:bodyPr/>
          <a:lstStyle/>
          <a:p>
            <a:r>
              <a:rPr lang="en-US" sz="2000" dirty="0"/>
              <a:t>CNN + MCTS:</a:t>
            </a:r>
            <a:endParaRPr lang="en-US" sz="1800" dirty="0"/>
          </a:p>
          <a:p>
            <a:pPr lvl="1"/>
            <a:r>
              <a:rPr lang="en-US" sz="1800" dirty="0"/>
              <a:t>Conclusion</a:t>
            </a:r>
          </a:p>
          <a:p>
            <a:pPr lvl="2"/>
            <a:r>
              <a:rPr lang="en-US" sz="1400" dirty="0"/>
              <a:t>Fast</a:t>
            </a:r>
          </a:p>
          <a:p>
            <a:pPr lvl="2"/>
            <a:r>
              <a:rPr lang="en-US" sz="1400" dirty="0"/>
              <a:t>Great player (if trained correctly)</a:t>
            </a:r>
          </a:p>
          <a:p>
            <a:pPr lvl="2"/>
            <a:r>
              <a:rPr lang="en-US" sz="1400" dirty="0"/>
              <a:t>Long training time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69335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D8B9-0A90-9295-85C2-A729755C7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55D8C9-256D-C281-7665-6166470A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3EE653-C74C-4DA8-6137-AFD8B82BE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Conclusion Table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EF8B1B9-EBDA-64EB-7F3A-24242D42F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896489"/>
              </p:ext>
            </p:extLst>
          </p:nvPr>
        </p:nvGraphicFramePr>
        <p:xfrm>
          <a:off x="375557" y="1403532"/>
          <a:ext cx="8392885" cy="4479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577">
                  <a:extLst>
                    <a:ext uri="{9D8B030D-6E8A-4147-A177-3AD203B41FA5}">
                      <a16:colId xmlns:a16="http://schemas.microsoft.com/office/drawing/2014/main" val="1335283272"/>
                    </a:ext>
                  </a:extLst>
                </a:gridCol>
                <a:gridCol w="1678577">
                  <a:extLst>
                    <a:ext uri="{9D8B030D-6E8A-4147-A177-3AD203B41FA5}">
                      <a16:colId xmlns:a16="http://schemas.microsoft.com/office/drawing/2014/main" val="1854071096"/>
                    </a:ext>
                  </a:extLst>
                </a:gridCol>
                <a:gridCol w="1678577">
                  <a:extLst>
                    <a:ext uri="{9D8B030D-6E8A-4147-A177-3AD203B41FA5}">
                      <a16:colId xmlns:a16="http://schemas.microsoft.com/office/drawing/2014/main" val="3128554458"/>
                    </a:ext>
                  </a:extLst>
                </a:gridCol>
                <a:gridCol w="1678577">
                  <a:extLst>
                    <a:ext uri="{9D8B030D-6E8A-4147-A177-3AD203B41FA5}">
                      <a16:colId xmlns:a16="http://schemas.microsoft.com/office/drawing/2014/main" val="2437091558"/>
                    </a:ext>
                  </a:extLst>
                </a:gridCol>
                <a:gridCol w="1678577">
                  <a:extLst>
                    <a:ext uri="{9D8B030D-6E8A-4147-A177-3AD203B41FA5}">
                      <a16:colId xmlns:a16="http://schemas.microsoft.com/office/drawing/2014/main" val="2238160678"/>
                    </a:ext>
                  </a:extLst>
                </a:gridCol>
              </a:tblGrid>
              <a:tr h="4263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Expand on </a:t>
                      </a:r>
                      <a:r>
                        <a:rPr lang="en-US" dirty="0" err="1"/>
                        <a:t>Gomoku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893352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r>
                        <a:rPr lang="en-US" dirty="0" err="1"/>
                        <a:t>MiniMax</a:t>
                      </a:r>
                      <a:r>
                        <a:rPr lang="en-US" dirty="0"/>
                        <a:t>/Alpha Beta </a:t>
                      </a:r>
                      <a:r>
                        <a:rPr lang="en-US" dirty="0" err="1"/>
                        <a:t>Prunning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247385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r>
                        <a:rPr lang="en-US" dirty="0"/>
                        <a:t>MCTS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 (based on depth and iters)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126779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r>
                        <a:rPr lang="en-US" dirty="0"/>
                        <a:t>Q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Perfect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739675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r>
                        <a:rPr lang="en-US" dirty="0"/>
                        <a:t>Heuristic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(depend)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513551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r>
                        <a:rPr lang="en-US" dirty="0"/>
                        <a:t>Trained Value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443050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r>
                        <a:rPr lang="en-US" dirty="0"/>
                        <a:t>Shared MCTS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(depend)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 (based on depth and iters)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52946"/>
                  </a:ext>
                </a:extLst>
              </a:tr>
              <a:tr h="426357">
                <a:tc>
                  <a:txBody>
                    <a:bodyPr/>
                    <a:lstStyle/>
                    <a:p>
                      <a:r>
                        <a:rPr lang="en-US" dirty="0"/>
                        <a:t>AlphaZero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619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565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CD53-8383-81D4-A358-BFAAA187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F126DE-B530-9C7B-F495-3517684E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B21FA3-C851-80CB-FDFD-DC428918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4: Conclusion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549BD-0538-4606-8F94-A5986A6492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841247"/>
            <a:ext cx="8557860" cy="5303393"/>
          </a:xfrm>
        </p:spPr>
        <p:txBody>
          <a:bodyPr/>
          <a:lstStyle/>
          <a:p>
            <a:r>
              <a:rPr lang="en-US" sz="2400" dirty="0"/>
              <a:t>Limitations:</a:t>
            </a:r>
            <a:endParaRPr lang="en-US" sz="1600" dirty="0"/>
          </a:p>
          <a:p>
            <a:pPr lvl="1"/>
            <a:r>
              <a:rPr lang="en-US" sz="2000" dirty="0"/>
              <a:t>Limited time to train algorithm</a:t>
            </a:r>
          </a:p>
          <a:p>
            <a:pPr lvl="1"/>
            <a:r>
              <a:rPr lang="en-US" sz="2000" dirty="0"/>
              <a:t>CPU consuming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Future:</a:t>
            </a:r>
          </a:p>
          <a:p>
            <a:pPr lvl="1"/>
            <a:r>
              <a:rPr lang="en-US" sz="2000" dirty="0"/>
              <a:t>Update the agent with Neural Network model to be able to perform well on bigger board</a:t>
            </a:r>
          </a:p>
          <a:p>
            <a:pPr lvl="1"/>
            <a:r>
              <a:rPr lang="en-US" sz="2000" dirty="0"/>
              <a:t>Trained a great value function </a:t>
            </a:r>
          </a:p>
        </p:txBody>
      </p:sp>
    </p:spTree>
    <p:extLst>
      <p:ext uri="{BB962C8B-B14F-4D97-AF65-F5344CB8AC3E}">
        <p14:creationId xmlns:p14="http://schemas.microsoft.com/office/powerpoint/2010/main" val="9540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1775</TotalTime>
  <Words>1202</Words>
  <Application>Microsoft Office PowerPoint</Application>
  <PresentationFormat>On-screen Show (4:3)</PresentationFormat>
  <Paragraphs>206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Lato</vt:lpstr>
      <vt:lpstr>Wingdings</vt:lpstr>
      <vt:lpstr>Office Theme</vt:lpstr>
      <vt:lpstr>PowerPoint Presentation</vt:lpstr>
      <vt:lpstr>PowerPoint Presentation</vt:lpstr>
      <vt:lpstr>Table of content</vt:lpstr>
      <vt:lpstr>Chapter 1: Tic Tac Toe and Gomoku</vt:lpstr>
      <vt:lpstr>Chapter 1: Tic Tac Toe and Gomoku</vt:lpstr>
      <vt:lpstr>Chapter 1: Tic Tac Toe and Gomoku</vt:lpstr>
      <vt:lpstr>Chapter 1: Tic Tac Toe and Gomoku</vt:lpstr>
      <vt:lpstr>Chapter 1: Tic Tac Toe and Gomoku</vt:lpstr>
      <vt:lpstr>Chapter 2: Standard Solver</vt:lpstr>
      <vt:lpstr>Chapter 2: Standard Solver</vt:lpstr>
      <vt:lpstr>Chapter 2: Standard Solver</vt:lpstr>
      <vt:lpstr>Chapter 2: Standard Solver</vt:lpstr>
      <vt:lpstr>Chapter 3: Extra solution</vt:lpstr>
      <vt:lpstr>Chapter 3: Extra solution</vt:lpstr>
      <vt:lpstr>Chapter 3: Extra solution</vt:lpstr>
      <vt:lpstr>Chapter 3: Extra solution</vt:lpstr>
      <vt:lpstr>Chapter 3: Extra solution</vt:lpstr>
      <vt:lpstr>Chapter 3: Extra solution</vt:lpstr>
      <vt:lpstr>Chapter 3: Extra solution</vt:lpstr>
      <vt:lpstr>Chapter 3: Extra solution</vt:lpstr>
      <vt:lpstr>Chapter 4: Conclusion Table</vt:lpstr>
      <vt:lpstr>Chapter 4: Conclusion table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an to</cp:lastModifiedBy>
  <cp:revision>20</cp:revision>
  <dcterms:created xsi:type="dcterms:W3CDTF">2021-05-28T04:32:29Z</dcterms:created>
  <dcterms:modified xsi:type="dcterms:W3CDTF">2026-01-06T14:11:03Z</dcterms:modified>
</cp:coreProperties>
</file>